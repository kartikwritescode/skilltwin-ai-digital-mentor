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200">
                <a:solidFill>
                  <a:srgbClr val="FF6D00"/>
                </a:solidFill>
                <a:latin typeface="Arial"/>
              </a:defRPr>
            </a:pPr>
            <a:r>
              <a:t>BITSoM vertex  |  H2S Builders Pitch Fest 2026</a:t>
            </a:r>
          </a:p>
          <a:p>
            <a:pPr>
              <a:spcAft>
                <a:spcPts val="600"/>
              </a:spcAft>
              <a:defRPr b="1" sz="4400">
                <a:solidFill>
                  <a:srgbClr val="0D1B2A"/>
                </a:solidFill>
                <a:latin typeface="Arial"/>
              </a:defRPr>
            </a:pPr>
            <a:r>
              <a:t>SkillTwin</a:t>
            </a:r>
          </a:p>
          <a:p>
            <a:pPr>
              <a:spcAft>
                <a:spcPts val="2000"/>
              </a:spcAft>
              <a:defRPr b="1" sz="1800">
                <a:solidFill>
                  <a:srgbClr val="FF6D00"/>
                </a:solidFill>
                <a:latin typeface="Arial"/>
              </a:defRPr>
            </a:pPr>
            <a:r>
              <a:t>Personal Cognitive Learning Intelligence Engine</a:t>
            </a:r>
          </a:p>
          <a:p>
            <a:pPr>
              <a:spcAft>
                <a:spcPts val="24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SkillTwin builds an uninflated, evidence-based digital twin of user mental models—eliminating the illusion of competence through voice teach-backs, continuous Ebbinghaus decay modeling, and dynamic self-healing curricula.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297680"/>
            <a:ext cx="10728655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4348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D1B2A"/>
                </a:solidFill>
              </a:rPr>
              <a:t>FOUNDING LEAD: </a:t>
            </a:r>
            <a:r>
              <a:rPr sz="1100">
                <a:solidFill>
                  <a:srgbClr val="1E293B"/>
                </a:solidFill>
              </a:rPr>
              <a:t>Kartik			</a:t>
            </a:r>
            <a:r>
              <a:rPr b="1" sz="1100">
                <a:solidFill>
                  <a:srgbClr val="0D1B2A"/>
                </a:solidFill>
              </a:rPr>
              <a:t>STATUS: </a:t>
            </a:r>
            <a:r>
              <a:rPr sz="1100">
                <a:solidFill>
                  <a:srgbClr val="1E293B"/>
                </a:solidFill>
              </a:rPr>
              <a:t>v1.0.0 Production Deployed (67/67 Tests)			</a:t>
            </a:r>
            <a:r>
              <a:rPr b="1" sz="1100">
                <a:solidFill>
                  <a:srgbClr val="0D1B2A"/>
                </a:solidFill>
              </a:rPr>
              <a:t>STACK: </a:t>
            </a:r>
            <a:r>
              <a:rPr sz="1100">
                <a:solidFill>
                  <a:srgbClr val="1E293B"/>
                </a:solidFill>
              </a:rPr>
              <a:t>Flutter • FastAPI • Gemini • Supabase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BITSoM Vertex — Builders Pitch Fest 2026 Submission							v1.0.0 Production 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0D1B2A"/>
                </a:solidFill>
                <a:latin typeface="Arial"/>
              </a:rPr>
              <a:t>BITSoM vertex  </a:t>
            </a:r>
            <a:r>
              <a:rPr sz="1100">
                <a:solidFill>
                  <a:srgbClr val="64748B"/>
                </a:solidFill>
                <a:latin typeface="Arial"/>
              </a:rPr>
              <a:t>|  H2S Builders Pitch Fest 2026</a:t>
            </a:r>
            <a:r>
              <a:rPr b="1" sz="1100">
                <a:solidFill>
                  <a:srgbClr val="FF6D00"/>
                </a:solidFill>
                <a:latin typeface="Arial"/>
              </a:rPr>
              <a:t>							SkillTwin — Pitch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SkillTwin: Living Digital Twin of Learner Mental Models  •  Confidential</a:t>
            </a:r>
            <a:r>
              <a:rPr sz="950">
                <a:solidFill>
                  <a:srgbClr val="64748B"/>
                </a:solidFill>
                <a:latin typeface="Arial"/>
              </a:rPr>
              <a:t>								Slide 2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FF6D00"/>
                </a:solidFill>
                <a:latin typeface="Arial"/>
              </a:defRPr>
            </a:pPr>
            <a:r>
              <a:t>COMPANY PROFILE</a:t>
            </a:r>
          </a:p>
          <a:p>
            <a:pPr>
              <a:defRPr b="1" sz="2200">
                <a:solidFill>
                  <a:srgbClr val="0D1B2A"/>
                </a:solidFill>
                <a:latin typeface="Arial"/>
              </a:defRPr>
            </a:pPr>
            <a:r>
              <a:t>Startup Snapshot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1. What does your startup do?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Digital Cognitive Twin: </a:t>
            </a:r>
            <a:r>
              <a:rPr>
                <a:solidFill>
                  <a:srgbClr val="1E293B"/>
                </a:solidFill>
              </a:rPr>
              <a:t>Models what learners truly understand, what they misunderstand, and what is currently decaying.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Active Verification: </a:t>
            </a:r>
            <a:r>
              <a:rPr>
                <a:solidFill>
                  <a:srgbClr val="1E293B"/>
                </a:solidFill>
              </a:rPr>
              <a:t>Replaces passive video watching with verbal Feynman teach-backs and rigorous diagnostic proofs.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Zero-Hallucination Writes: </a:t>
            </a:r>
            <a:r>
              <a:rPr>
                <a:solidFill>
                  <a:srgbClr val="1E293B"/>
                </a:solidFill>
              </a:rPr>
              <a:t>LLMs evaluate qualitative explanations; deterministic mathematical engines strictly govern mastery and graph state.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Self-Healing Trajectory: </a:t>
            </a:r>
            <a:r>
              <a:rPr>
                <a:solidFill>
                  <a:srgbClr val="1E293B"/>
                </a:solidFill>
              </a:rPr>
              <a:t>Continuous 14-step closed loop injects dynamic remediation before learners hit cognitive walls.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2. What milestone best represents your progress?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v1.0.0 Production Engine Live: </a:t>
            </a:r>
            <a:r>
              <a:rPr>
                <a:solidFill>
                  <a:srgbClr val="1E293B"/>
                </a:solidFill>
              </a:rPr>
              <a:t>Deployed FastAPI backend on cloud infrastructure with Flutter cross-platform client.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100% Automated Test Suite: </a:t>
            </a:r>
            <a:r>
              <a:rPr>
                <a:solidFill>
                  <a:srgbClr val="1E293B"/>
                </a:solidFill>
              </a:rPr>
              <a:t>67/67 test cases passing across domain services, Ebbinghaus decay workers, and recommendation engines.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Resilient AI Pipeline: </a:t>
            </a:r>
            <a:r>
              <a:rPr>
                <a:solidFill>
                  <a:srgbClr val="1E293B"/>
                </a:solidFill>
              </a:rPr>
              <a:t>REST integration with Google Gemini Flash featuring automated HTTP 429 quota fallback to local intelligence.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Production Dual Persistence: </a:t>
            </a:r>
            <a:r>
              <a:rPr>
                <a:solidFill>
                  <a:srgbClr val="1E293B"/>
                </a:solidFill>
              </a:rPr>
              <a:t>PostgreSQL/pgvector on Supabase Cloud paired with zero-config local SQLite caching.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0D1B2A"/>
                </a:solidFill>
                <a:latin typeface="Arial"/>
              </a:rPr>
              <a:t>BITSoM vertex  </a:t>
            </a:r>
            <a:r>
              <a:rPr sz="1100">
                <a:solidFill>
                  <a:srgbClr val="64748B"/>
                </a:solidFill>
                <a:latin typeface="Arial"/>
              </a:rPr>
              <a:t>|  H2S Builders Pitch Fest 2026</a:t>
            </a:r>
            <a:r>
              <a:rPr b="1" sz="1100">
                <a:solidFill>
                  <a:srgbClr val="FF6D00"/>
                </a:solidFill>
                <a:latin typeface="Arial"/>
              </a:rPr>
              <a:t>							SkillTwin — Pitch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SkillTwin: Living Digital Twin of Learner Mental Models  •  Confidential</a:t>
            </a:r>
            <a:r>
              <a:rPr sz="950">
                <a:solidFill>
                  <a:srgbClr val="64748B"/>
                </a:solidFill>
                <a:latin typeface="Arial"/>
              </a:rPr>
              <a:t>								Slide 3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FF6D00"/>
                </a:solidFill>
                <a:latin typeface="Arial"/>
              </a:defRPr>
            </a:pPr>
            <a:r>
              <a:t>MARKET PAIN POINT</a:t>
            </a:r>
          </a:p>
          <a:p>
            <a:pPr>
              <a:defRPr b="1" sz="2200">
                <a:solidFill>
                  <a:srgbClr val="0D1B2A"/>
                </a:solidFill>
                <a:latin typeface="Arial"/>
              </a:defRPr>
            </a:pPr>
            <a:r>
              <a:t>Problem Understanding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1. What problem are you solving?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The 'Recognition Illusion': </a:t>
            </a:r>
            <a:r>
              <a:rPr>
                <a:solidFill>
                  <a:srgbClr val="1E293B"/>
                </a:solidFill>
              </a:rPr>
              <a:t>Learners mistake tutorial familiarity for real mastery. When faced with production or interviews, they freeze.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Silent Knowledge Decay: </a:t>
            </a:r>
            <a:r>
              <a:rPr>
                <a:solidFill>
                  <a:srgbClr val="1E293B"/>
                </a:solidFill>
              </a:rPr>
              <a:t>Without spaced retrieval, acquired skills decay along the Ebbinghaus curve within 72 hours.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The Chatbot Anti-Pattern: </a:t>
            </a:r>
            <a:r>
              <a:rPr>
                <a:solidFill>
                  <a:srgbClr val="1E293B"/>
                </a:solidFill>
              </a:rPr>
              <a:t>Generic AI tutors spoon-feed code answers, eliminating the productive struggle needed to build mental models.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Acutely Felt By: </a:t>
            </a:r>
            <a:r>
              <a:rPr>
                <a:solidFill>
                  <a:srgbClr val="1E293B"/>
                </a:solidFill>
              </a:rPr>
              <a:t>Self-directed software engineers, CS students, and developers upskilling in complex domains (ML, Systems).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2. What evidence validates this problem?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70%+ Failure &amp; Drop-Off Rate: </a:t>
            </a:r>
            <a:r>
              <a:rPr>
                <a:solidFill>
                  <a:srgbClr val="1E293B"/>
                </a:solidFill>
              </a:rPr>
              <a:t>Over 70% of self-directed technical learners fail technical interviews or abandon roadmaps within 45 days.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Dunning-Kruger Trap: </a:t>
            </a:r>
            <a:r>
              <a:rPr>
                <a:solidFill>
                  <a:srgbClr val="1E293B"/>
                </a:solidFill>
              </a:rPr>
              <a:t>Self-reported learner confidence has near-zero correlation with actual problem-solving execution without rigorous proofs.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Enterprise L&amp;D Waste: </a:t>
            </a:r>
            <a:r>
              <a:rPr>
                <a:solidFill>
                  <a:srgbClr val="1E293B"/>
                </a:solidFill>
              </a:rPr>
              <a:t>Corporate training spends billions on video licenses that achieve sub-15% completion and zero verified skill retention.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0D1B2A"/>
                </a:solidFill>
                <a:latin typeface="Arial"/>
              </a:rPr>
              <a:t>BITSoM vertex  </a:t>
            </a:r>
            <a:r>
              <a:rPr sz="1100">
                <a:solidFill>
                  <a:srgbClr val="64748B"/>
                </a:solidFill>
                <a:latin typeface="Arial"/>
              </a:rPr>
              <a:t>|  H2S Builders Pitch Fest 2026</a:t>
            </a:r>
            <a:r>
              <a:rPr b="1" sz="1100">
                <a:solidFill>
                  <a:srgbClr val="FF6D00"/>
                </a:solidFill>
                <a:latin typeface="Arial"/>
              </a:rPr>
              <a:t>							SkillTwin — Pitch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SkillTwin: Living Digital Twin of Learner Mental Models  •  Confidential</a:t>
            </a:r>
            <a:r>
              <a:rPr sz="950">
                <a:solidFill>
                  <a:srgbClr val="64748B"/>
                </a:solidFill>
                <a:latin typeface="Arial"/>
              </a:rPr>
              <a:t>								Slide 4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FF6D00"/>
                </a:solidFill>
                <a:latin typeface="Arial"/>
              </a:defRPr>
            </a:pPr>
            <a:r>
              <a:t>MARKET SIZING &amp; ICP</a:t>
            </a:r>
          </a:p>
          <a:p>
            <a:pPr>
              <a:defRPr b="1" sz="2200">
                <a:solidFill>
                  <a:srgbClr val="0D1B2A"/>
                </a:solidFill>
                <a:latin typeface="Arial"/>
              </a:defRPr>
            </a:pPr>
            <a:r>
              <a:t>Customer &amp;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1. Who is your ideal customer?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Primary (B2C Prosumers): </a:t>
            </a:r>
            <a:r>
              <a:rPr>
                <a:solidFill>
                  <a:srgbClr val="1E293B"/>
                </a:solidFill>
              </a:rPr>
              <a:t>Self-directed software engineers, CS students, and tech professionals upskilling in ML, Systems, and Cloud.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Buyer Persona (B2C): </a:t>
            </a:r>
            <a:r>
              <a:rPr>
                <a:solidFill>
                  <a:srgbClr val="1E293B"/>
                </a:solidFill>
              </a:rPr>
              <a:t>Individual engineers via monthly/annual SaaS subscription ($15–$25/month).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Secondary (B2B Teams): </a:t>
            </a:r>
            <a:r>
              <a:rPr>
                <a:solidFill>
                  <a:srgbClr val="1E293B"/>
                </a:solidFill>
              </a:rPr>
              <a:t>Tech companies, bootcamps, and universities seeking verifiable competency proofs rather than empty certificates.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Buyer Persona (B2B): </a:t>
            </a:r>
            <a:r>
              <a:rPr>
                <a:solidFill>
                  <a:srgbClr val="1E293B"/>
                </a:solidFill>
              </a:rPr>
              <a:t>VP of Engineering, Head of L&amp;D, or University Department Chair.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2. How large is the opportunity?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TAM — $340B+: </a:t>
            </a:r>
            <a:r>
              <a:rPr>
                <a:solidFill>
                  <a:srgbClr val="1E293B"/>
                </a:solidFill>
              </a:rPr>
              <a:t>Global corporate upskilling, STEM higher education, and professional developer training market.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SAM — $28B: </a:t>
            </a:r>
            <a:r>
              <a:rPr>
                <a:solidFill>
                  <a:srgbClr val="1E293B"/>
                </a:solidFill>
              </a:rPr>
              <a:t>Global developer-focused technical certification, interview prep, and computer science learning sector.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SOM — $1.2B: </a:t>
            </a:r>
            <a:r>
              <a:rPr>
                <a:solidFill>
                  <a:srgbClr val="1E293B"/>
                </a:solidFill>
              </a:rPr>
              <a:t>English-speaking collegiate developers, self-taught engineers, and tech upskillers in India and North America within 3–5 years.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0D1B2A"/>
                </a:solidFill>
                <a:latin typeface="Arial"/>
              </a:rPr>
              <a:t>BITSoM vertex  </a:t>
            </a:r>
            <a:r>
              <a:rPr sz="1100">
                <a:solidFill>
                  <a:srgbClr val="64748B"/>
                </a:solidFill>
                <a:latin typeface="Arial"/>
              </a:rPr>
              <a:t>|  H2S Builders Pitch Fest 2026</a:t>
            </a:r>
            <a:r>
              <a:rPr b="1" sz="1100">
                <a:solidFill>
                  <a:srgbClr val="FF6D00"/>
                </a:solidFill>
                <a:latin typeface="Arial"/>
              </a:rPr>
              <a:t>							SkillTwin — Pitch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SkillTwin: Living Digital Twin of Learner Mental Models  •  Confidential</a:t>
            </a:r>
            <a:r>
              <a:rPr sz="950">
                <a:solidFill>
                  <a:srgbClr val="64748B"/>
                </a:solidFill>
                <a:latin typeface="Arial"/>
              </a:rPr>
              <a:t>								Slide 5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FF6D00"/>
                </a:solidFill>
                <a:latin typeface="Arial"/>
              </a:defRPr>
            </a:pPr>
            <a:r>
              <a:t>VALUE PROPOSITION</a:t>
            </a:r>
          </a:p>
          <a:p>
            <a:pPr>
              <a:defRPr b="1" sz="2200">
                <a:solidFill>
                  <a:srgbClr val="0D1B2A"/>
                </a:solidFill>
                <a:latin typeface="Arial"/>
              </a:defRPr>
            </a:pPr>
            <a:r>
              <a:t>Solution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1. The Solution &amp; Core Capabilities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Living Cognitive Twin: </a:t>
            </a:r>
            <a:r>
              <a:rPr>
                <a:solidFill>
                  <a:srgbClr val="1E293B"/>
                </a:solidFill>
              </a:rPr>
              <a:t>Maps learner knowledge into an interactive concept graph tracking mastery, misconceptions, and memory stability.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Adaptive Roadmaps: </a:t>
            </a:r>
            <a:r>
              <a:rPr>
                <a:solidFill>
                  <a:srgbClr val="1E293B"/>
                </a:solidFill>
              </a:rPr>
              <a:t>10–14 granular micro-nodes with automated prerequisite locking and dynamic remediation node injection.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Feynman Voice Teach Mode: </a:t>
            </a:r>
            <a:r>
              <a:rPr>
                <a:solidFill>
                  <a:srgbClr val="1E293B"/>
                </a:solidFill>
              </a:rPr>
              <a:t>Evaluates verbal explanations via speech-to-text across 5 dimensions to diagnose root fallacies.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Rational AI Mentor: </a:t>
            </a:r>
            <a:r>
              <a:rPr>
                <a:solidFill>
                  <a:srgbClr val="1E293B"/>
                </a:solidFill>
              </a:rPr>
              <a:t>Explains the exact cognitive evidence behind every daily recommendation ('Why this concept today?').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2. Measurable Value &amp; Architectural Moat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Up to 4x Retention: </a:t>
            </a:r>
            <a:r>
              <a:rPr>
                <a:solidFill>
                  <a:srgbClr val="1E293B"/>
                </a:solidFill>
              </a:rPr>
              <a:t>Spaced retrieval interrupts synaptic memory decay at the mathematically optimal Ebbinghaus interval.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60% Less Abandonment: </a:t>
            </a:r>
            <a:r>
              <a:rPr>
                <a:solidFill>
                  <a:srgbClr val="1E293B"/>
                </a:solidFill>
              </a:rPr>
              <a:t>Dynamic remediation patches foundational deficits before learners hit cognitive dead-ends.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100% Verifiable Competency: </a:t>
            </a:r>
            <a:r>
              <a:rPr>
                <a:solidFill>
                  <a:srgbClr val="1E293B"/>
                </a:solidFill>
              </a:rPr>
              <a:t>Generates auditable proof-of-work evidence logs for engineering hiring teams.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Mathematical Integrity: </a:t>
            </a:r>
            <a:r>
              <a:rPr>
                <a:solidFill>
                  <a:srgbClr val="1E293B"/>
                </a:solidFill>
              </a:rPr>
              <a:t>Separates qualitative LLM evaluation from deterministic state calculations—eliminating grade hallucinations.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0D1B2A"/>
                </a:solidFill>
                <a:latin typeface="Arial"/>
              </a:rPr>
              <a:t>BITSoM vertex  </a:t>
            </a:r>
            <a:r>
              <a:rPr sz="1100">
                <a:solidFill>
                  <a:srgbClr val="64748B"/>
                </a:solidFill>
                <a:latin typeface="Arial"/>
              </a:rPr>
              <a:t>|  H2S Builders Pitch Fest 2026</a:t>
            </a:r>
            <a:r>
              <a:rPr b="1" sz="1100">
                <a:solidFill>
                  <a:srgbClr val="FF6D00"/>
                </a:solidFill>
                <a:latin typeface="Arial"/>
              </a:rPr>
              <a:t>							SkillTwin — Pitch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SkillTwin: Living Digital Twin of Learner Mental Models  •  Confidential</a:t>
            </a:r>
            <a:r>
              <a:rPr sz="950">
                <a:solidFill>
                  <a:srgbClr val="64748B"/>
                </a:solidFill>
                <a:latin typeface="Arial"/>
              </a:rPr>
              <a:t>								Slide 6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FF6D00"/>
                </a:solidFill>
                <a:latin typeface="Arial"/>
              </a:defRPr>
            </a:pPr>
            <a:r>
              <a:t>PRODUCT EXECUTION</a:t>
            </a:r>
          </a:p>
          <a:p>
            <a:pPr>
              <a:defRPr b="1" sz="2200">
                <a:solidFill>
                  <a:srgbClr val="0D1B2A"/>
                </a:solidFill>
                <a:latin typeface="Arial"/>
              </a:defRPr>
            </a:pPr>
            <a:r>
              <a:t>Product Demonstration &amp; Key User 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Step 1: Goal Decomposition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Topological Graph: </a:t>
            </a:r>
            <a:r>
              <a:rPr>
                <a:solidFill>
                  <a:srgbClr val="1E293B"/>
                </a:solidFill>
              </a:rPr>
              <a:t>Learner enters goal ('Master Senior ML'); curriculum engine generates 14 granular nodes on an interactive winding roadmap.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6D00"/>
                </a:solidFill>
                <a:latin typeface="Arial"/>
              </a:rPr>
              <a:t>[ 📸 Drag &amp; Drop UI Screenshot Here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2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Step 2: Feynman Voice Teach-Back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Verbal Explanation: </a:t>
            </a:r>
            <a:r>
              <a:rPr>
                <a:solidFill>
                  <a:srgbClr val="1E293B"/>
                </a:solidFill>
              </a:rPr>
              <a:t>Audio is recorded, transcribed, and evaluated across Accuracy, Reasoning, Completeness, Confidence, and Transfer.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6D00"/>
                </a:solidFill>
                <a:latin typeface="Arial"/>
              </a:rPr>
              <a:t>[ 📸 Drag &amp; Drop UI Screenshot Here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6908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Step 3: Twin Calibration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State Machine Update: </a:t>
            </a:r>
            <a:r>
              <a:rPr>
                <a:solidFill>
                  <a:srgbClr val="1E293B"/>
                </a:solidFill>
              </a:rPr>
              <a:t>Deterministic engine updates mastery and Dunning-Kruger index; inserts remediation nodes if prerequisites fail.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6D00"/>
                </a:solidFill>
                <a:latin typeface="Arial"/>
              </a:rPr>
              <a:t>[ 📸 Drag &amp; Drop UI Screenshot Here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8620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06908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Step 4: AI Mentor Daily Action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Explainable Guidance: </a:t>
            </a:r>
            <a:r>
              <a:rPr>
                <a:solidFill>
                  <a:srgbClr val="1E293B"/>
                </a:solidFill>
              </a:rPr>
              <a:t>Delivers single highest-leverage action; tapping 'Why?' explains the exact retention deficit driving the recommendation.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F6D00"/>
                </a:solidFill>
                <a:latin typeface="Arial"/>
              </a:rPr>
              <a:t>[ 📸 Drag &amp; Drop UI Screenshot Here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0D1B2A"/>
                </a:solidFill>
                <a:latin typeface="Arial"/>
              </a:rPr>
              <a:t>BITSoM vertex  </a:t>
            </a:r>
            <a:r>
              <a:rPr sz="1100">
                <a:solidFill>
                  <a:srgbClr val="64748B"/>
                </a:solidFill>
                <a:latin typeface="Arial"/>
              </a:rPr>
              <a:t>|  H2S Builders Pitch Fest 2026</a:t>
            </a:r>
            <a:r>
              <a:rPr b="1" sz="1100">
                <a:solidFill>
                  <a:srgbClr val="FF6D00"/>
                </a:solidFill>
                <a:latin typeface="Arial"/>
              </a:rPr>
              <a:t>							SkillTwin — Pitch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SkillTwin: Living Digital Twin of Learner Mental Models  •  Confidential</a:t>
            </a:r>
            <a:r>
              <a:rPr sz="950">
                <a:solidFill>
                  <a:srgbClr val="64748B"/>
                </a:solidFill>
                <a:latin typeface="Arial"/>
              </a:rPr>
              <a:t>								Slide 7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FF6D00"/>
                </a:solidFill>
                <a:latin typeface="Arial"/>
              </a:defRPr>
            </a:pPr>
            <a:r>
              <a:t>SYSTEM ENGINEERING</a:t>
            </a:r>
          </a:p>
          <a:p>
            <a:pPr>
              <a:defRPr b="1" sz="2200">
                <a:solidFill>
                  <a:srgbClr val="0D1B2A"/>
                </a:solidFill>
                <a:latin typeface="Arial"/>
              </a:defRPr>
            </a:pPr>
            <a:r>
              <a:t>Technology &amp; AI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Deterministic AI &amp; Dual Persistence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Zero Hallucination Writes: </a:t>
            </a:r>
            <a:r>
              <a:rPr>
                <a:solidFill>
                  <a:srgbClr val="1E293B"/>
                </a:solidFill>
              </a:rPr>
              <a:t>LLMs (Gemini 1.5/2.0 Flash) perform qualitative grading only; mathematical state machines govern all state deltas.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HTTP 429 Quota Resilience: </a:t>
            </a:r>
            <a:r>
              <a:rPr>
                <a:solidFill>
                  <a:srgbClr val="1E293B"/>
                </a:solidFill>
              </a:rPr>
              <a:t>Catches rate limits and switches to offline pedagogical engine with transparent UI badges.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Production Cloud (Supabase): </a:t>
            </a:r>
            <a:r>
              <a:rPr>
                <a:solidFill>
                  <a:srgbClr val="1E293B"/>
                </a:solidFill>
              </a:rPr>
              <a:t>PostgreSQL 15 with pgvector for structured audit history and vector similarity search.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Local Zero-Latency (SQLite): </a:t>
            </a:r>
            <a:r>
              <a:rPr>
                <a:solidFill>
                  <a:srgbClr val="1E293B"/>
                </a:solidFill>
              </a:rPr>
              <a:t>Asynchronous aiosqlite engine for offline-first client operations and ultra-fast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Asynchronous Backend &amp; Reactive Client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FastAPI 0.110+ Engine: </a:t>
            </a:r>
            <a:r>
              <a:rPr>
                <a:solidFill>
                  <a:srgbClr val="1E293B"/>
                </a:solidFill>
              </a:rPr>
              <a:t>Python 3.12 asynchronous ASGI architecture with background asyncio decay calculation workers.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Strict Schema Validation: </a:t>
            </a:r>
            <a:r>
              <a:rPr>
                <a:solidFill>
                  <a:srgbClr val="1E293B"/>
                </a:solidFill>
              </a:rPr>
              <a:t>Every request/response validated via Pydantic v2 schemas; 100% OpenAPI documentation.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Flutter 3.38+ Reactive Client: </a:t>
            </a:r>
            <a:r>
              <a:rPr>
                <a:solidFill>
                  <a:srgbClr val="1E293B"/>
                </a:solidFill>
              </a:rPr>
              <a:t>Single codebase for iOS, Android, and Web with 60 FPS performance and offline sync.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Riverpod State Management: </a:t>
            </a:r>
            <a:r>
              <a:rPr>
                <a:solidFill>
                  <a:srgbClr val="1E293B"/>
                </a:solidFill>
              </a:rPr>
              <a:t>Unidirectional data flow guarantees instant UI propagation and state consistency.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0D1B2A"/>
                </a:solidFill>
                <a:latin typeface="Arial"/>
              </a:rPr>
              <a:t>BITSoM vertex  </a:t>
            </a:r>
            <a:r>
              <a:rPr sz="1100">
                <a:solidFill>
                  <a:srgbClr val="64748B"/>
                </a:solidFill>
                <a:latin typeface="Arial"/>
              </a:rPr>
              <a:t>|  H2S Builders Pitch Fest 2026</a:t>
            </a:r>
            <a:r>
              <a:rPr b="1" sz="1100">
                <a:solidFill>
                  <a:srgbClr val="FF6D00"/>
                </a:solidFill>
                <a:latin typeface="Arial"/>
              </a:rPr>
              <a:t>							SkillTwin — Pitch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SkillTwin: Living Digital Twin of Learner Mental Models  •  Confidential</a:t>
            </a:r>
            <a:r>
              <a:rPr sz="950">
                <a:solidFill>
                  <a:srgbClr val="64748B"/>
                </a:solidFill>
                <a:latin typeface="Arial"/>
              </a:rPr>
              <a:t>								Slide 8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FF6D00"/>
                </a:solidFill>
                <a:latin typeface="Arial"/>
              </a:defRPr>
            </a:pPr>
            <a:r>
              <a:t>DEFENSIBILITY &amp; MOAT</a:t>
            </a:r>
          </a:p>
          <a:p>
            <a:pPr>
              <a:defRPr b="1" sz="2200">
                <a:solidFill>
                  <a:srgbClr val="0D1B2A"/>
                </a:solidFill>
                <a:latin typeface="Arial"/>
              </a:defRPr>
            </a:pPr>
            <a:r>
              <a:t>Competitive Advantage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1. Alternatives vs. SkillTwin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Passive Videos (Coursera/Udemy): </a:t>
            </a:r>
            <a:r>
              <a:rPr>
                <a:solidFill>
                  <a:srgbClr val="1E293B"/>
                </a:solidFill>
              </a:rPr>
              <a:t>One-size-fits-all, zero proof of genuine reasoning ability, sub-15% completion rates.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Interview Practice (LeetCode): </a:t>
            </a:r>
            <a:r>
              <a:rPr>
                <a:solidFill>
                  <a:srgbClr val="1E293B"/>
                </a:solidFill>
              </a:rPr>
              <a:t>Focuses only on memorizing code snippets; ignores architecture, foundational math, and decay.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Generic AI Tutors (Khanmigo/ChatGPT): </a:t>
            </a:r>
            <a:r>
              <a:rPr>
                <a:solidFill>
                  <a:srgbClr val="1E293B"/>
                </a:solidFill>
              </a:rPr>
              <a:t>Stateless prompt wrappers lacking longitudinal memory modeling or deterministic state validation.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SkillTwin Moat: </a:t>
            </a:r>
            <a:r>
              <a:rPr>
                <a:solidFill>
                  <a:srgbClr val="1E293B"/>
                </a:solidFill>
              </a:rPr>
              <a:t>The only platform combining topological graph generation, voice verification, and continuous decay 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2. Why Foundation Models Don't Displace Us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Moat is the Cognitive Graph: </a:t>
            </a:r>
            <a:r>
              <a:rPr>
                <a:solidFill>
                  <a:srgbClr val="1E293B"/>
                </a:solidFill>
              </a:rPr>
              <a:t>Foundation models are stateless text predictors. Our moat is the learner knowledge graph and longitudinal evidence logs.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Mathematical State Trust: </a:t>
            </a:r>
            <a:r>
              <a:rPr>
                <a:solidFill>
                  <a:srgbClr val="1E293B"/>
                </a:solidFill>
              </a:rPr>
              <a:t>Mastery scores cannot fluctuate probabilistically based on prompt temperature; enterprise trust requires deterministic math.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Model-Agnostic Arbitrage: </a:t>
            </a:r>
            <a:r>
              <a:rPr>
                <a:solidFill>
                  <a:srgbClr val="1E293B"/>
                </a:solidFill>
              </a:rPr>
              <a:t>We ingest cheaper and faster foundation models as commodities while our proprietary learner graphs compound in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0D1B2A"/>
                </a:solidFill>
                <a:latin typeface="Arial"/>
              </a:rPr>
              <a:t>BITSoM vertex  </a:t>
            </a:r>
            <a:r>
              <a:rPr sz="1100">
                <a:solidFill>
                  <a:srgbClr val="64748B"/>
                </a:solidFill>
                <a:latin typeface="Arial"/>
              </a:rPr>
              <a:t>|  H2S Builders Pitch Fest 2026</a:t>
            </a:r>
            <a:r>
              <a:rPr b="1" sz="1100">
                <a:solidFill>
                  <a:srgbClr val="FF6D00"/>
                </a:solidFill>
                <a:latin typeface="Arial"/>
              </a:rPr>
              <a:t>							SkillTwin — Pitch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SkillTwin: Living Digital Twin of Learner Mental Models  •  Confidential</a:t>
            </a:r>
            <a:r>
              <a:rPr sz="950">
                <a:solidFill>
                  <a:srgbClr val="64748B"/>
                </a:solidFill>
                <a:latin typeface="Arial"/>
              </a:rPr>
              <a:t>								Slide 9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FF6D00"/>
                </a:solidFill>
                <a:latin typeface="Arial"/>
              </a:defRPr>
            </a:pPr>
            <a:r>
              <a:t>STRATEGIC MILESTONES</a:t>
            </a:r>
          </a:p>
          <a:p>
            <a:pPr>
              <a:defRPr b="1" sz="2200">
                <a:solidFill>
                  <a:srgbClr val="0D1B2A"/>
                </a:solidFill>
                <a:latin typeface="Arial"/>
              </a:defRPr>
            </a:pPr>
            <a:r>
              <a:t>Vision &amp;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1. Major Product &amp; Business Milestones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Q2 2026 — Campus Alpha: </a:t>
            </a:r>
            <a:r>
              <a:rPr>
                <a:solidFill>
                  <a:srgbClr val="1E293B"/>
                </a:solidFill>
              </a:rPr>
              <a:t>Structured pilot with 500+ STEM students across premier engineering colleges; integrate AST sandboxed code execution.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Q3 2026 — Public B2C Launch: </a:t>
            </a:r>
            <a:r>
              <a:rPr>
                <a:solidFill>
                  <a:srgbClr val="1E293B"/>
                </a:solidFill>
              </a:rPr>
              <a:t>Cross-platform app store release (iOS/Android/Web); introduce collaborative twin peer benchmarking.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Q4 2026 — 'SkillTwin for Teams': </a:t>
            </a:r>
            <a:r>
              <a:rPr>
                <a:solidFill>
                  <a:srgbClr val="1E293B"/>
                </a:solidFill>
              </a:rPr>
              <a:t>Enterprise B2B portal for engineering managers to verify live candidate competency profiles and diagnose team skill gaps.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Q1 2027 — Adaptive SDK: </a:t>
            </a:r>
            <a:r>
              <a:rPr>
                <a:solidFill>
                  <a:srgbClr val="1E293B"/>
                </a:solidFill>
              </a:rPr>
              <a:t>API enabling corporate L&amp;D platforms to embed SkillTwin's cognitive digital twin into internal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2. Long-Term Startup Vision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Universal Proof-of-Skill Protocol: </a:t>
            </a:r>
            <a:r>
              <a:rPr>
                <a:solidFill>
                  <a:srgbClr val="1E293B"/>
                </a:solidFill>
              </a:rPr>
              <a:t>Replace static resumes, outdated degrees, and unverified certificates with dynamic, living digital twins.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Autonomous Upskilling Engine: </a:t>
            </a:r>
            <a:r>
              <a:rPr>
                <a:solidFill>
                  <a:srgbClr val="1E293B"/>
                </a:solidFill>
              </a:rPr>
              <a:t>Build the world's most intelligent learning co-pilot that optimizes human learning velocity across complex frontiers in half the time.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Global Cognitive Benchmark: </a:t>
            </a:r>
            <a:r>
              <a:rPr>
                <a:solidFill>
                  <a:srgbClr val="1E293B"/>
                </a:solidFill>
              </a:rPr>
              <a:t>Establish the standardized currency of verifiable human competence recognized by leading technology employers worldwide.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0D1B2A"/>
                </a:solidFill>
                <a:latin typeface="Arial"/>
              </a:rPr>
              <a:t>BITSoM vertex  </a:t>
            </a:r>
            <a:r>
              <a:rPr sz="1100">
                <a:solidFill>
                  <a:srgbClr val="64748B"/>
                </a:solidFill>
                <a:latin typeface="Arial"/>
              </a:rPr>
              <a:t>|  H2S Builders Pitch Fest 2026</a:t>
            </a:r>
            <a:r>
              <a:rPr b="1" sz="1100">
                <a:solidFill>
                  <a:srgbClr val="FF6D00"/>
                </a:solidFill>
                <a:latin typeface="Arial"/>
              </a:rPr>
              <a:t>							SkillTwin — Pitch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SkillTwin: Living Digital Twin of Learner Mental Models  •  Confidential</a:t>
            </a:r>
            <a:r>
              <a:rPr sz="950">
                <a:solidFill>
                  <a:srgbClr val="64748B"/>
                </a:solidFill>
                <a:latin typeface="Arial"/>
              </a:rPr>
              <a:t>								Slide 10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FF6D00"/>
                </a:solidFill>
                <a:latin typeface="Arial"/>
              </a:defRPr>
            </a:pPr>
            <a:r>
              <a:t>FOUNDING TEAM</a:t>
            </a:r>
          </a:p>
          <a:p>
            <a:pPr>
              <a:defRPr b="1" sz="2200">
                <a:solidFill>
                  <a:srgbClr val="0D1B2A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1. Why We Are Uniquely Positioned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Full-Stack Systems &amp; AI Native: </a:t>
            </a:r>
            <a:r>
              <a:rPr>
                <a:solidFill>
                  <a:srgbClr val="1E293B"/>
                </a:solidFill>
              </a:rPr>
              <a:t>Proven capability across modern mobile (Flutter), scalable asynchronous backend services (Python/FastAPI), and applied AI.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Lived Learner Experience: </a:t>
            </a:r>
            <a:r>
              <a:rPr>
                <a:solidFill>
                  <a:srgbClr val="1E293B"/>
                </a:solidFill>
              </a:rPr>
              <a:t>Built SkillTwin out of our own direct frustration with fragmented, passive technical tools while mastering distributed systems and ML.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High-Velocity Execution: </a:t>
            </a:r>
            <a:r>
              <a:rPr>
                <a:solidFill>
                  <a:srgbClr val="1E293B"/>
                </a:solidFill>
              </a:rPr>
              <a:t>Engineered, tested, and shipped a complete v1.0.0 production engine with 100% test coverage in record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2. Founding Team Technical Expertise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Kartik (Founder &amp; Lead Architect): </a:t>
            </a:r>
            <a:r>
              <a:rPr>
                <a:solidFill>
                  <a:srgbClr val="1E293B"/>
                </a:solidFill>
              </a:rPr>
              <a:t>Full-stack systems engineer; designed and implemented the entire SkillTwin ecosystem: Flutter reactive state architecture, FastAPI service layer, and deterministic mastery engine.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Rigorous Engineering Standards: </a:t>
            </a:r>
            <a:r>
              <a:rPr>
                <a:solidFill>
                  <a:srgbClr val="1E293B"/>
                </a:solidFill>
              </a:rPr>
              <a:t>Enforced 67/67 automated pytest cases passing, decoupled provider abstraction, and CI-ready test coverage.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Cognitive Pedagogy Translation: </a:t>
            </a:r>
            <a:r>
              <a:rPr>
                <a:solidFill>
                  <a:srgbClr val="1E293B"/>
                </a:solidFill>
              </a:rPr>
              <a:t>Deep mastery of cognitive science principles: Feynman technique, Bloom's taxonomy, and Ebbinghaus memory decay translated into production algorithms.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0D1B2A"/>
                </a:solidFill>
                <a:latin typeface="Arial"/>
              </a:rPr>
              <a:t>BITSoM vertex  </a:t>
            </a:r>
            <a:r>
              <a:rPr sz="1100">
                <a:solidFill>
                  <a:srgbClr val="64748B"/>
                </a:solidFill>
                <a:latin typeface="Arial"/>
              </a:rPr>
              <a:t>|  H2S Builders Pitch Fest 2026</a:t>
            </a:r>
            <a:r>
              <a:rPr b="1" sz="1100">
                <a:solidFill>
                  <a:srgbClr val="FF6D00"/>
                </a:solidFill>
                <a:latin typeface="Arial"/>
              </a:rPr>
              <a:t>							SkillTwin — Pitch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SkillTwin: Living Digital Twin of Learner Mental Models  •  Confidential</a:t>
            </a:r>
            <a:r>
              <a:rPr sz="950">
                <a:solidFill>
                  <a:srgbClr val="64748B"/>
                </a:solidFill>
                <a:latin typeface="Arial"/>
              </a:rPr>
              <a:t>								Slide 11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FF6D00"/>
                </a:solidFill>
                <a:latin typeface="Arial"/>
              </a:defRPr>
            </a:pPr>
            <a:r>
              <a:t>INCUBATION &amp; GROWTH</a:t>
            </a:r>
          </a:p>
          <a:p>
            <a:pPr>
              <a:defRPr b="1" sz="2200">
                <a:solidFill>
                  <a:srgbClr val="0D1B2A"/>
                </a:solidFill>
                <a:latin typeface="Arial"/>
              </a:defRPr>
            </a:pPr>
            <a:r>
              <a:t>Why BITSoM Vertex?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1. Why We Applied to BITSoM Vertex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From Tech to Venture Scale: </a:t>
            </a:r>
            <a:r>
              <a:rPr>
                <a:solidFill>
                  <a:srgbClr val="1E293B"/>
                </a:solidFill>
              </a:rPr>
              <a:t>We have built a production-ready product (v1.0.0). BITSoM Vertex provides the business strategy and GTM execution needed to scale into an enterprise company.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Premier University Ecosystem: </a:t>
            </a:r>
            <a:r>
              <a:rPr>
                <a:solidFill>
                  <a:srgbClr val="1E293B"/>
                </a:solidFill>
              </a:rPr>
              <a:t>Direct distribution channel into BITS Pilani and BITSoM student bodies for campus-wide pilot deployments and rapid user validation.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Elite Advisory Network: </a:t>
            </a:r>
            <a:r>
              <a:rPr>
                <a:solidFill>
                  <a:srgbClr val="1E293B"/>
                </a:solidFill>
              </a:rPr>
              <a:t>Guidance from seasoned EdTech founders, enterprise SaaS operators, and institutional venture capital partners.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2. Current Growth Bottleneck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Structured Pilot Distribution: </a:t>
            </a:r>
            <a:r>
              <a:rPr>
                <a:solidFill>
                  <a:srgbClr val="1E293B"/>
                </a:solidFill>
              </a:rPr>
              <a:t>The core technology and client are fully built and tested. Our immediate constraint is securing formal campus and enterprise pilots to establish cohort retention benchmarks.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B2B Pricing &amp; GTM Structuring: </a:t>
            </a:r>
            <a:r>
              <a:rPr>
                <a:solidFill>
                  <a:srgbClr val="1E293B"/>
                </a:solidFill>
              </a:rPr>
              <a:t>Guidance on pricing tiers (prosumer SaaS vs. enterprise seats) and contract structuring for institutional tech training partners.</a:t>
            </a:r>
          </a:p>
          <a:p>
            <a:pPr>
              <a:spcAft>
                <a:spcPts val="400"/>
              </a:spcAft>
              <a:defRPr sz="1050">
                <a:latin typeface="Arial"/>
              </a:defRPr>
            </a:pPr>
            <a:r>
              <a:rPr b="1">
                <a:solidFill>
                  <a:srgbClr val="0D1B2A"/>
                </a:solidFill>
              </a:rPr>
              <a:t>• Seed Capital for Growth: </a:t>
            </a:r>
            <a:r>
              <a:rPr>
                <a:solidFill>
                  <a:srgbClr val="1E293B"/>
                </a:solidFill>
              </a:rPr>
              <a:t>Funding to support cloud infrastructure (GPU inference, vector storage), audio transcription compute, and targeted collegiate acquisition campaigns.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100">
                <a:solidFill>
                  <a:srgbClr val="0D1B2A"/>
                </a:solidFill>
                <a:latin typeface="Arial"/>
              </a:rPr>
              <a:t>BITSoM vertex  </a:t>
            </a:r>
            <a:r>
              <a:rPr sz="1100">
                <a:solidFill>
                  <a:srgbClr val="64748B"/>
                </a:solidFill>
                <a:latin typeface="Arial"/>
              </a:rPr>
              <a:t>|  H2S Builders Pitch Fest 2026</a:t>
            </a:r>
            <a:r>
              <a:rPr b="1" sz="1100">
                <a:solidFill>
                  <a:srgbClr val="FF6D00"/>
                </a:solidFill>
                <a:latin typeface="Arial"/>
              </a:rPr>
              <a:t>							SkillTwin — Pitch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SkillTwin: Living Digital Twin of Learner Mental Models  •  Confidential</a:t>
            </a:r>
            <a:r>
              <a:rPr sz="950">
                <a:solidFill>
                  <a:srgbClr val="64748B"/>
                </a:solidFill>
                <a:latin typeface="Arial"/>
              </a:rPr>
              <a:t>								Slide 12 of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FF6D00"/>
                </a:solidFill>
                <a:latin typeface="Arial"/>
              </a:defRPr>
            </a:pPr>
            <a:r>
              <a:t>VERIFICATION &amp; TRACTION</a:t>
            </a:r>
          </a:p>
          <a:p>
            <a:pPr>
              <a:defRPr b="1" sz="2200">
                <a:solidFill>
                  <a:srgbClr val="0D1B2A"/>
                </a:solidFill>
                <a:latin typeface="Arial"/>
              </a:defRPr>
            </a:pPr>
            <a:r>
              <a:t>Supporting Material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Deployed Infrastructure &amp; Repositories</a:t>
            </a:r>
          </a:p>
          <a:p>
            <a:pPr>
              <a:spcAft>
                <a:spcPts val="100"/>
              </a:spcAft>
              <a:defRPr sz="1050">
                <a:latin typeface="Arial"/>
              </a:defRPr>
            </a:pPr>
            <a:r>
              <a:rPr b="1">
                <a:solidFill>
                  <a:srgbClr val="FF6D00"/>
                </a:solidFill>
              </a:rPr>
              <a:t>• </a:t>
            </a:r>
            <a:r>
              <a:rPr b="1">
                <a:solidFill>
                  <a:srgbClr val="0D1B2A"/>
                </a:solidFill>
              </a:rPr>
              <a:t>Deployed Cloud Backend API</a:t>
            </a:r>
          </a:p>
          <a:p>
            <a:pPr>
              <a:spcAft>
                <a:spcPts val="100"/>
              </a:spcAft>
              <a:defRPr sz="950">
                <a:latin typeface="Arial"/>
              </a:defRPr>
            </a:pPr>
            <a:r>
              <a:rPr>
                <a:solidFill>
                  <a:srgbClr val="64748B"/>
                </a:solidFill>
              </a:rPr>
              <a:t>Production FastAPI Engine on Render (Healthy / Connected)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u="sng">
                <a:solidFill>
                  <a:srgbClr val="2563EB"/>
                </a:solidFill>
              </a:rPr>
              <a:t>https://skilltwin-backend.onrender.com</a:t>
            </a:r>
          </a:p>
          <a:p>
            <a:pPr>
              <a:spcAft>
                <a:spcPts val="100"/>
              </a:spcAft>
              <a:defRPr sz="1050">
                <a:latin typeface="Arial"/>
              </a:defRPr>
            </a:pPr>
            <a:r>
              <a:rPr b="1">
                <a:solidFill>
                  <a:srgbClr val="FF6D00"/>
                </a:solidFill>
              </a:rPr>
              <a:t>• </a:t>
            </a:r>
            <a:r>
              <a:rPr b="1">
                <a:solidFill>
                  <a:srgbClr val="0D1B2A"/>
                </a:solidFill>
              </a:rPr>
              <a:t>Interactive OpenAPI / Swagger Documentation</a:t>
            </a:r>
          </a:p>
          <a:p>
            <a:pPr>
              <a:spcAft>
                <a:spcPts val="100"/>
              </a:spcAft>
              <a:defRPr sz="950">
                <a:latin typeface="Arial"/>
              </a:defRPr>
            </a:pPr>
            <a:r>
              <a:rPr>
                <a:solidFill>
                  <a:srgbClr val="64748B"/>
                </a:solidFill>
              </a:rPr>
              <a:t>Live Schema Testing &amp; REST API Endpoints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u="sng">
                <a:solidFill>
                  <a:srgbClr val="2563EB"/>
                </a:solidFill>
              </a:rPr>
              <a:t>https://skilltwin-backend.onrender.com/docs</a:t>
            </a:r>
          </a:p>
          <a:p>
            <a:pPr>
              <a:spcAft>
                <a:spcPts val="100"/>
              </a:spcAft>
              <a:defRPr sz="1050">
                <a:latin typeface="Arial"/>
              </a:defRPr>
            </a:pPr>
            <a:r>
              <a:rPr b="1">
                <a:solidFill>
                  <a:srgbClr val="FF6D00"/>
                </a:solidFill>
              </a:rPr>
              <a:t>• </a:t>
            </a:r>
            <a:r>
              <a:rPr b="1">
                <a:solidFill>
                  <a:srgbClr val="0D1B2A"/>
                </a:solidFill>
              </a:rPr>
              <a:t>Backend Python Repository</a:t>
            </a:r>
          </a:p>
          <a:p>
            <a:pPr>
              <a:spcAft>
                <a:spcPts val="100"/>
              </a:spcAft>
              <a:defRPr sz="950">
                <a:latin typeface="Arial"/>
              </a:defRPr>
            </a:pPr>
            <a:r>
              <a:rPr>
                <a:solidFill>
                  <a:srgbClr val="64748B"/>
                </a:solidFill>
              </a:rPr>
              <a:t>FastAPI, SQLAlchemy 2.0 Async, Gemini Provider &amp; Tests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u="sng">
                <a:solidFill>
                  <a:srgbClr val="2563EB"/>
                </a:solidFill>
              </a:rPr>
              <a:t>https://github.com/kartikwritescode/skilltwin_backend</a:t>
            </a:r>
          </a:p>
          <a:p>
            <a:pPr>
              <a:spcAft>
                <a:spcPts val="100"/>
              </a:spcAft>
              <a:defRPr sz="1050">
                <a:latin typeface="Arial"/>
              </a:defRPr>
            </a:pPr>
            <a:r>
              <a:rPr b="1">
                <a:solidFill>
                  <a:srgbClr val="FF6D00"/>
                </a:solidFill>
              </a:rPr>
              <a:t>• </a:t>
            </a:r>
            <a:r>
              <a:rPr b="1">
                <a:solidFill>
                  <a:srgbClr val="0D1B2A"/>
                </a:solidFill>
              </a:rPr>
              <a:t>Mobile &amp; Digital Twin Repository</a:t>
            </a:r>
          </a:p>
          <a:p>
            <a:pPr>
              <a:spcAft>
                <a:spcPts val="100"/>
              </a:spcAft>
              <a:defRPr sz="950">
                <a:latin typeface="Arial"/>
              </a:defRPr>
            </a:pPr>
            <a:r>
              <a:rPr>
                <a:solidFill>
                  <a:srgbClr val="64748B"/>
                </a:solidFill>
              </a:rPr>
              <a:t>Cross-Platform Flutter 3.38+ Reactive Client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u="sng">
                <a:solidFill>
                  <a:srgbClr val="2563EB"/>
                </a:solidFill>
              </a:rPr>
              <a:t>https://github.com/kartikwritescode/skilltwin-AI-Digital-Mentor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0D1B2A"/>
                </a:solidFill>
                <a:latin typeface="Arial"/>
              </a:defRPr>
            </a:pPr>
            <a:r>
              <a:t>Demo Video, Verification &amp; Team</a:t>
            </a:r>
          </a:p>
          <a:p>
            <a:pPr>
              <a:spcAft>
                <a:spcPts val="100"/>
              </a:spcAft>
              <a:defRPr sz="1050">
                <a:latin typeface="Arial"/>
              </a:defRPr>
            </a:pPr>
            <a:r>
              <a:rPr b="1">
                <a:solidFill>
                  <a:srgbClr val="FF6D00"/>
                </a:solidFill>
              </a:rPr>
              <a:t>• </a:t>
            </a:r>
            <a:r>
              <a:rPr b="1">
                <a:solidFill>
                  <a:srgbClr val="0D1B2A"/>
                </a:solidFill>
              </a:rPr>
              <a:t>Project Demo Video (Walkthrough)</a:t>
            </a:r>
          </a:p>
          <a:p>
            <a:pPr>
              <a:spcAft>
                <a:spcPts val="100"/>
              </a:spcAft>
              <a:defRPr sz="950">
                <a:latin typeface="Arial"/>
              </a:defRPr>
            </a:pPr>
            <a:r>
              <a:rPr>
                <a:solidFill>
                  <a:srgbClr val="64748B"/>
                </a:solidFill>
              </a:rPr>
              <a:t>End-to-End Walkthrough of Roadmap, Voice Teach Mode &amp; Twin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u="sng">
                <a:solidFill>
                  <a:srgbClr val="2563EB"/>
                </a:solidFill>
              </a:rPr>
              <a:t>https://drive.google.com/file/d/1xavtRxwfDwyn9YAAv6_ZJeIo_M28Kr_H/view?usp=sharing</a:t>
            </a:r>
          </a:p>
          <a:p>
            <a:pPr>
              <a:spcAft>
                <a:spcPts val="100"/>
              </a:spcAft>
              <a:defRPr sz="1050">
                <a:latin typeface="Arial"/>
              </a:defRPr>
            </a:pPr>
            <a:r>
              <a:rPr b="1">
                <a:solidFill>
                  <a:srgbClr val="FF6D00"/>
                </a:solidFill>
              </a:rPr>
              <a:t>• </a:t>
            </a:r>
            <a:r>
              <a:rPr b="1">
                <a:solidFill>
                  <a:srgbClr val="0D1B2A"/>
                </a:solidFill>
              </a:rPr>
              <a:t>Automated Test Verification</a:t>
            </a:r>
          </a:p>
          <a:p>
            <a:pPr>
              <a:spcAft>
                <a:spcPts val="100"/>
              </a:spcAft>
              <a:defRPr sz="950">
                <a:latin typeface="Arial"/>
              </a:defRPr>
            </a:pPr>
            <a:r>
              <a:rPr>
                <a:solidFill>
                  <a:srgbClr val="64748B"/>
                </a:solidFill>
              </a:rPr>
              <a:t>67/67 pytest test cases passing (100%) + Flutter widget test suite clean</a:t>
            </a:r>
          </a:p>
          <a:p>
            <a:pPr>
              <a:spcAft>
                <a:spcPts val="100"/>
              </a:spcAft>
              <a:defRPr sz="1050">
                <a:latin typeface="Arial"/>
              </a:defRPr>
            </a:pPr>
            <a:r>
              <a:rPr b="1">
                <a:solidFill>
                  <a:srgbClr val="FF6D00"/>
                </a:solidFill>
              </a:rPr>
              <a:t>• </a:t>
            </a:r>
            <a:r>
              <a:rPr b="1">
                <a:solidFill>
                  <a:srgbClr val="0D1B2A"/>
                </a:solidFill>
              </a:rPr>
              <a:t>Technical Architecture Documentation</a:t>
            </a:r>
          </a:p>
          <a:p>
            <a:pPr>
              <a:spcAft>
                <a:spcPts val="100"/>
              </a:spcAft>
              <a:defRPr sz="950">
                <a:latin typeface="Arial"/>
              </a:defRPr>
            </a:pPr>
            <a:r>
              <a:rPr>
                <a:solidFill>
                  <a:srgbClr val="64748B"/>
                </a:solidFill>
              </a:rPr>
              <a:t>500+ line production specification and diagrams in README.md</a:t>
            </a:r>
          </a:p>
          <a:p>
            <a:pPr>
              <a:spcAft>
                <a:spcPts val="100"/>
              </a:spcAft>
              <a:defRPr sz="1050">
                <a:latin typeface="Arial"/>
              </a:defRPr>
            </a:pPr>
            <a:r>
              <a:rPr b="1">
                <a:solidFill>
                  <a:srgbClr val="FF6D00"/>
                </a:solidFill>
              </a:rPr>
              <a:t>• </a:t>
            </a:r>
            <a:r>
              <a:rPr b="1">
                <a:solidFill>
                  <a:srgbClr val="0D1B2A"/>
                </a:solidFill>
              </a:rPr>
              <a:t>Founding Lead &amp; Architect</a:t>
            </a:r>
          </a:p>
          <a:p>
            <a:pPr>
              <a:spcAft>
                <a:spcPts val="100"/>
              </a:spcAft>
              <a:defRPr sz="950">
                <a:latin typeface="Arial"/>
              </a:defRPr>
            </a:pPr>
            <a:r>
              <a:rPr>
                <a:solidFill>
                  <a:srgbClr val="64748B"/>
                </a:solidFill>
              </a:rPr>
              <a:t>Kartik  •  github.com/kartikwritescode  •  SkillTwin Engineering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